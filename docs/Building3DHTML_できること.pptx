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7ee5a1d7-7871-745e-8e0c-a971a2b95695}">
          <p14:sldIdLst>
            <p14:sldId id="256"/>
            <p14:sldId id="257"/>
          </p14:sldIdLst>
        </p14:section>
        <p14:section name="できること" id="{c764e468-a0e0-0a32-c0c8-50ba90da5e63}">
          <p14:sldIdLst>
            <p14:sldId id="258"/>
            <p14:sldId id="259"/>
            <p14:sldId id="260"/>
            <p14:sldId id="261"/>
            <p14:sldId id="262"/>
          </p14:sldIdLst>
        </p14:section>
        <p14:section name="使い方" id="{ff86a05b-6a69-7f2e-7ee0-0d7f9d59d3e9}">
          <p14:sldIdLst>
            <p14:sldId id="263"/>
            <p14:sldId id="264"/>
          </p14:sldIdLst>
        </p14:section>
        <p14:section name="ほかの機能" id="{0747b278-a6a3-3d9a-b428-db56fa8413f7}">
          <p14:sldIdLst>
            <p14:sldId id="265"/>
            <p14:sldId id="266"/>
            <p14:sldId id="267"/>
          </p14:sldIdLst>
        </p14:section>
        <p14:section name="まとめ" id="{240f3ebf-a100-dbbf-5fe0-e5fde34bb89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このスライドでは、自作のQGISプラグイン「Building 3D HTML」でできることを、初めての人向けに説明します。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入力はQGISの面レイヤ、出力はHTMLファイル1つだけ。メールやチャットで渡せば、相手はダブルクリックでブラウザから3D地図を見られます。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書き出したHTMLを開くとこの画面になります。北が上に固定されていて、マウスでドラッグすると移動、ホイールで拡大縮小します。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ここから先のスライドで、主なものを画面つきで説明します。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どの列を見せるかは書き出すときに選ぶので、見せたくない列はHTMLに入りません。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レイヤ名に「計画」が入っている面レイヤがあれば、ダイアログで最初から選ばれます。周辺の建物も同じように、灰色の背景として出せます。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見る人が自分で切り替えられるので、ひとつのファイルで説明に合わせた見せ方ができます。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インストールは最初の1回だけ。プラグインを新しくしたときは、もう一度 zip からインストールしてQGISを再起動します。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ダイアログは画面からはみ出さないよう、中身がスクロールします。「書き出す」ボタンはいつも下に出ています。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照合した結果のレイヤを、そのまま3D地図の書き出しに使えます。例えば施設の種類で色分けして書き出す、といった使い方です。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PLATEAUの建物を「周辺の建物」に使うと、自分のデータのまわりの街並みを灰色で表示できます。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いまは試作版（0.1）です。よく使う機能から順に足していく予定です。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まずは手元の建物データで1つ書き出して、ブラウザで開いてみてください。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389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97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Building 3D HTML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QGISの建物データを、だれでも開ける3D地図にするプラグイン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QGISプラグイン　できること・使い方の説明</a:t>
            </a:r>
            <a:endParaRPr lang="en-US" sz="1200" dirty="0"/>
          </a:p>
        </p:txBody>
      </p:sp>
      <p:pic>
        <p:nvPicPr>
          <p:cNvPr id="5" name="Image 0" descr="書き出した3D地図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188720"/>
            <a:ext cx="3566160" cy="26746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ひとことで言うと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icon tile"/>
          <p:cNvSpPr/>
          <p:nvPr/>
        </p:nvSpPr>
        <p:spPr>
          <a:xfrm>
            <a:off x="1325880" y="137160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FaLayer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1445" y="154716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QGISの建物レイヤ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06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建物の形（面）と、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高さの列があるデータ</a:t>
            </a:r>
            <a:endParaRPr lang="en-US" sz="1200" dirty="0"/>
          </a:p>
        </p:txBody>
      </p:sp>
      <p:sp>
        <p:nvSpPr>
          <p:cNvPr id="8" name="arrow"/>
          <p:cNvSpPr/>
          <p:nvPr/>
        </p:nvSpPr>
        <p:spPr>
          <a:xfrm>
            <a:off x="2999232" y="2011680"/>
            <a:ext cx="274320" cy="36576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9" name="card"/>
          <p:cNvSpPr/>
          <p:nvPr/>
        </p:nvSpPr>
        <p:spPr>
          <a:xfrm>
            <a:off x="3337560" y="11887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0" name="icon tile"/>
          <p:cNvSpPr/>
          <p:nvPr/>
        </p:nvSpPr>
        <p:spPr>
          <a:xfrm>
            <a:off x="4206240" y="137160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11" name="Image 1" descr="Fa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805" y="154716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Building 3D HTML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06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ダイアログで設定して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「書き出す」を押すだけ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5879592" y="2011680"/>
            <a:ext cx="274320" cy="36576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15" name="card"/>
          <p:cNvSpPr/>
          <p:nvPr/>
        </p:nvSpPr>
        <p:spPr>
          <a:xfrm>
            <a:off x="6217920" y="11887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6" name="icon tile"/>
          <p:cNvSpPr/>
          <p:nvPr/>
        </p:nvSpPr>
        <p:spPr>
          <a:xfrm>
            <a:off x="7086600" y="137160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2" descr="FaGlobeAs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165" y="154716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HTMLファイル 1つ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606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ブラウザで開くと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建物が立体で見える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457200" y="352044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31520" y="36576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QGISを持っていない人にも、ファイルを渡すだけで見てもらえる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地図を表示する仕組み（MapLibre）もファイルに入っているので、ソフトのインストールは不要です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できあがる画面</a:t>
            </a:r>
            <a:endParaRPr lang="en-US" sz="2800" dirty="0"/>
          </a:p>
        </p:txBody>
      </p:sp>
      <p:pic>
        <p:nvPicPr>
          <p:cNvPr id="3" name="Image 0" descr="書き出したHTMLをブラウザで開いた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394960" cy="303466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  <p:sp>
        <p:nvSpPr>
          <p:cNvPr id="4" name="number 1"/>
          <p:cNvSpPr/>
          <p:nvPr/>
        </p:nvSpPr>
        <p:spPr>
          <a:xfrm>
            <a:off x="1354741" y="1079564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354741" y="1079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number 2"/>
          <p:cNvSpPr/>
          <p:nvPr/>
        </p:nvSpPr>
        <p:spPr>
          <a:xfrm>
            <a:off x="1219867" y="3541014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19867" y="3541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number 3"/>
          <p:cNvSpPr/>
          <p:nvPr/>
        </p:nvSpPr>
        <p:spPr>
          <a:xfrm>
            <a:off x="5660593" y="1045845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0593" y="10458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number 4"/>
          <p:cNvSpPr/>
          <p:nvPr/>
        </p:nvSpPr>
        <p:spPr>
          <a:xfrm>
            <a:off x="3664458" y="2866644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64458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2" name="number 1"/>
          <p:cNvSpPr/>
          <p:nvPr/>
        </p:nvSpPr>
        <p:spPr>
          <a:xfrm>
            <a:off x="6172200" y="1143000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1143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1124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操作パネル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高さの強調・背景地図・計画建物のオン／オフ</a:t>
            </a:r>
            <a:endParaRPr lang="en-US" sz="1100" dirty="0"/>
          </a:p>
        </p:txBody>
      </p:sp>
      <p:sp>
        <p:nvSpPr>
          <p:cNvPr id="16" name="number 2"/>
          <p:cNvSpPr/>
          <p:nvPr/>
        </p:nvSpPr>
        <p:spPr>
          <a:xfrm>
            <a:off x="6172200" y="1892808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7220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凡例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216712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色分けの名前と、それぞれの棟数</a:t>
            </a:r>
            <a:endParaRPr lang="en-US" sz="1100" dirty="0"/>
          </a:p>
        </p:txBody>
      </p:sp>
      <p:sp>
        <p:nvSpPr>
          <p:cNvPr id="20" name="number 3"/>
          <p:cNvSpPr/>
          <p:nvPr/>
        </p:nvSpPr>
        <p:spPr>
          <a:xfrm>
            <a:off x="6172200" y="2642616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2642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629400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拡大・縮小と 2D／3D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629400" y="2916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真上から見るか、斜めから見るかを切り替え</a:t>
            </a:r>
            <a:endParaRPr lang="en-US" sz="1100" dirty="0"/>
          </a:p>
        </p:txBody>
      </p:sp>
      <p:sp>
        <p:nvSpPr>
          <p:cNvPr id="24" name="number 4"/>
          <p:cNvSpPr/>
          <p:nvPr/>
        </p:nvSpPr>
        <p:spPr>
          <a:xfrm>
            <a:off x="6172200" y="3392424"/>
            <a:ext cx="329184" cy="32918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33741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建物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629400" y="36667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高さの分だけ立ち上がる。クリックで詳細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2976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見本は試しのデータ（市営住宅）。オレンジの建物は説明用の架空の計画建物です。背景地図は「なし」で表示しています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できること 8つ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4" name="icon tile"/>
          <p:cNvSpPr/>
          <p:nvPr/>
        </p:nvSpPr>
        <p:spPr>
          <a:xfrm>
            <a:off x="594360" y="12344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Fa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34416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高さで立ち上げる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075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高さの列の数字で建物を立体に。空の建物は決めた高さで補い、半透明で表示</a:t>
            </a:r>
            <a:endParaRPr lang="en-US" sz="1000" dirty="0"/>
          </a:p>
        </p:txBody>
      </p:sp>
      <p:sp>
        <p:nvSpPr>
          <p:cNvPr id="8" name="card"/>
          <p:cNvSpPr/>
          <p:nvPr/>
        </p:nvSpPr>
        <p:spPr>
          <a:xfrm>
            <a:off x="2560320" y="109728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9" name="icon tile"/>
          <p:cNvSpPr/>
          <p:nvPr/>
        </p:nvSpPr>
        <p:spPr>
          <a:xfrm>
            <a:off x="2697480" y="12344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0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3441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9748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色分けを引き継ぐ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2075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QGISの「分類」の色をそのまま使える。単色も選べる</a:t>
            </a:r>
            <a:endParaRPr lang="en-US" sz="1000" dirty="0"/>
          </a:p>
        </p:txBody>
      </p:sp>
      <p:sp>
        <p:nvSpPr>
          <p:cNvPr id="13" name="card"/>
          <p:cNvSpPr/>
          <p:nvPr/>
        </p:nvSpPr>
        <p:spPr>
          <a:xfrm>
            <a:off x="4663440" y="109728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4" name="icon tile"/>
          <p:cNvSpPr/>
          <p:nvPr/>
        </p:nvSpPr>
        <p:spPr>
          <a:xfrm>
            <a:off x="4800600" y="12344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5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134416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0060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クリックで詳細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800600" y="2075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建物名と、選んだ列の値を表示。項目名も変えられる</a:t>
            </a:r>
            <a:endParaRPr lang="en-US" sz="1000" dirty="0"/>
          </a:p>
        </p:txBody>
      </p:sp>
      <p:sp>
        <p:nvSpPr>
          <p:cNvPr id="18" name="card"/>
          <p:cNvSpPr/>
          <p:nvPr/>
        </p:nvSpPr>
        <p:spPr>
          <a:xfrm>
            <a:off x="6766560" y="109728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9" name="icon tile"/>
          <p:cNvSpPr/>
          <p:nvPr/>
        </p:nvSpPr>
        <p:spPr>
          <a:xfrm>
            <a:off x="6903720" y="12344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20" name="Image 3" descr="FaDraftingComp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34416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0372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計画建物と見比べ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903720" y="207568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これから建てる建物を半透明のオレンジで。オン・オフで今と比べる</a:t>
            </a:r>
            <a:endParaRPr lang="en-US" sz="1000" dirty="0"/>
          </a:p>
        </p:txBody>
      </p:sp>
      <p:sp>
        <p:nvSpPr>
          <p:cNvPr id="23" name="card"/>
          <p:cNvSpPr/>
          <p:nvPr/>
        </p:nvSpPr>
        <p:spPr>
          <a:xfrm>
            <a:off x="457200" y="288036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4" name="icon tile"/>
          <p:cNvSpPr/>
          <p:nvPr/>
        </p:nvSpPr>
        <p:spPr>
          <a:xfrm>
            <a:off x="59436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5" name="Image 4" descr="FaCit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1272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9436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周辺の建物も表示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3858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まわりの建物（PLATEAUなど）を、決めた範囲だけ灰色で</a:t>
            </a:r>
            <a:endParaRPr lang="en-US" sz="1000" dirty="0"/>
          </a:p>
        </p:txBody>
      </p:sp>
      <p:sp>
        <p:nvSpPr>
          <p:cNvPr id="28" name="card"/>
          <p:cNvSpPr/>
          <p:nvPr/>
        </p:nvSpPr>
        <p:spPr>
          <a:xfrm>
            <a:off x="2560320" y="288036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9" name="icon tile"/>
          <p:cNvSpPr/>
          <p:nvPr/>
        </p:nvSpPr>
        <p:spPr>
          <a:xfrm>
            <a:off x="269748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30" name="Image 5" descr="FaM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7208" y="31272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69748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背景地図を選べる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2697480" y="3858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地理院の淡色地図・航空写真・なし。濃さも調整できる</a:t>
            </a:r>
            <a:endParaRPr lang="en-US" sz="1000" dirty="0"/>
          </a:p>
        </p:txBody>
      </p:sp>
      <p:sp>
        <p:nvSpPr>
          <p:cNvPr id="33" name="card"/>
          <p:cNvSpPr/>
          <p:nvPr/>
        </p:nvSpPr>
        <p:spPr>
          <a:xfrm>
            <a:off x="4663440" y="288036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34" name="icon tile"/>
          <p:cNvSpPr/>
          <p:nvPr/>
        </p:nvSpPr>
        <p:spPr>
          <a:xfrm>
            <a:off x="480060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35" name="Image 6" descr="FaArrowsAltV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31272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80060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高さを強調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4800600" y="3858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1倍・3倍・5倍に切り替え。低い建物どうしの差も見やすく</a:t>
            </a:r>
            <a:endParaRPr lang="en-US" sz="1000" dirty="0"/>
          </a:p>
        </p:txBody>
      </p:sp>
      <p:sp>
        <p:nvSpPr>
          <p:cNvPr id="38" name="card"/>
          <p:cNvSpPr/>
          <p:nvPr/>
        </p:nvSpPr>
        <p:spPr>
          <a:xfrm>
            <a:off x="6766560" y="288036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39" name="icon tile"/>
          <p:cNvSpPr/>
          <p:nvPr/>
        </p:nvSpPr>
        <p:spPr>
          <a:xfrm>
            <a:off x="690372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40" name="Image 7" descr="MdWifiOff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3127248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903720" y="3566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ネットなしでもOK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6903720" y="3858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建物はファイルの中に入っている。背景地図だけネットが必要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建物をクリックすると、詳しい情報が出る</a:t>
            </a:r>
            <a:endParaRPr lang="en-US" sz="2800" dirty="0"/>
          </a:p>
        </p:txBody>
      </p:sp>
      <p:pic>
        <p:nvPicPr>
          <p:cNvPr id="3" name="Image 0" descr="建物をクリックして詳細を表示した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143000"/>
            <a:ext cx="5394960" cy="303466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  <p:sp>
        <p:nvSpPr>
          <p:cNvPr id="4" name="number 1"/>
          <p:cNvSpPr/>
          <p:nvPr/>
        </p:nvSpPr>
        <p:spPr>
          <a:xfrm>
            <a:off x="457200" y="114300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143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書き出す前に決める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44475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ダイアログの「表示名の列」で見出しに出す列、「詳細に出す列」で一覧に出す列を選ぶ。項目名（別名）も付けられる</a:t>
            </a:r>
            <a:endParaRPr lang="en-US" sz="1000" dirty="0"/>
          </a:p>
        </p:txBody>
      </p:sp>
      <p:sp>
        <p:nvSpPr>
          <p:cNvPr id="8" name="number 2"/>
          <p:cNvSpPr/>
          <p:nvPr/>
        </p:nvSpPr>
        <p:spPr>
          <a:xfrm>
            <a:off x="457200" y="224028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HTMLでクリック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54203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右上に建物の情報が出る。選んだ建物は枠で目立つ</a:t>
            </a:r>
            <a:endParaRPr lang="en-US" sz="1000" dirty="0"/>
          </a:p>
        </p:txBody>
      </p:sp>
      <p:sp>
        <p:nvSpPr>
          <p:cNvPr id="12" name="number 3"/>
          <p:cNvSpPr/>
          <p:nvPr/>
        </p:nvSpPr>
        <p:spPr>
          <a:xfrm>
            <a:off x="457200" y="333756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高さの出どころも分かる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363931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最後の行に「3D表示の高さ」。補った高さならそう書かれる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計画建物で「今」と「計画後」を見比べる</a:t>
            </a:r>
            <a:endParaRPr lang="en-US" sz="2800" dirty="0"/>
          </a:p>
        </p:txBody>
      </p:sp>
      <p:pic>
        <p:nvPicPr>
          <p:cNvPr id="3" name="Image 0" descr="計画建物を表示：オフ（今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657600" cy="2743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計画建物を表示：オフ（今）</a:t>
            </a:r>
            <a:endParaRPr lang="en-US" sz="1300" dirty="0"/>
          </a:p>
        </p:txBody>
      </p:sp>
      <p:pic>
        <p:nvPicPr>
          <p:cNvPr id="5" name="Image 1" descr="計画建物を表示：オン（計画後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3657600" cy="2743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02920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計画建物を表示：オン（計画後）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>
            <a:off x="4434840" y="2103120"/>
            <a:ext cx="274320" cy="36576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計画建物のレイヤを選ぶと、半透明のオレンジで立ち上がります。HTMLの「計画建物を表示」のチェックで、出したり消したりできます。クリックすると名称・高さ・メモなどが出ます。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見え方は、HTMLを開いたあとでも変えられる</a:t>
            </a:r>
            <a:endParaRPr lang="en-US" sz="2800" dirty="0"/>
          </a:p>
        </p:txBody>
      </p:sp>
      <p:pic>
        <p:nvPicPr>
          <p:cNvPr id="3" name="Image 0" descr="高さを3倍にした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097280"/>
            <a:ext cx="3840480" cy="28803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E2A33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846320" y="4069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高さを3倍にした例</a:t>
            </a:r>
            <a:endParaRPr lang="en-US" sz="1100" dirty="0"/>
          </a:p>
        </p:txBody>
      </p:sp>
      <p:sp>
        <p:nvSpPr>
          <p:cNvPr id="5" name="icon tile"/>
          <p:cNvSpPr/>
          <p:nvPr/>
        </p:nvSpPr>
        <p:spPr>
          <a:xfrm>
            <a:off x="457200" y="1097280"/>
            <a:ext cx="502920" cy="5029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6" name="Image 1" descr="FaArrowsAl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1097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高さの強調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1倍・3倍・5倍（とダイアログで決めた倍率）を切り替え</a:t>
            </a:r>
            <a:endParaRPr lang="en-US" sz="1100" dirty="0"/>
          </a:p>
        </p:txBody>
      </p:sp>
      <p:sp>
        <p:nvSpPr>
          <p:cNvPr id="9" name="icon tile"/>
          <p:cNvSpPr/>
          <p:nvPr/>
        </p:nvSpPr>
        <p:spPr>
          <a:xfrm>
            <a:off x="457200" y="1874520"/>
            <a:ext cx="502920" cy="5029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0" name="Image 2" descr="FaM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995221"/>
            <a:ext cx="261518" cy="26151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背景地図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淡色地図・航空写真・なし。濃さはスライダーで調整</a:t>
            </a:r>
            <a:endParaRPr lang="en-US" sz="1100" dirty="0"/>
          </a:p>
        </p:txBody>
      </p:sp>
      <p:sp>
        <p:nvSpPr>
          <p:cNvPr id="13" name="icon tile"/>
          <p:cNvSpPr/>
          <p:nvPr/>
        </p:nvSpPr>
        <p:spPr>
          <a:xfrm>
            <a:off x="457200" y="2651760"/>
            <a:ext cx="502920" cy="5029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FaComp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772461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2D／3D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143000" y="2926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真上から見る・斜めから見るを1つのボタンで。北はいつも上</a:t>
            </a:r>
            <a:endParaRPr lang="en-US" sz="1100" dirty="0"/>
          </a:p>
        </p:txBody>
      </p:sp>
      <p:sp>
        <p:nvSpPr>
          <p:cNvPr id="17" name="icon tile"/>
          <p:cNvSpPr/>
          <p:nvPr/>
        </p:nvSpPr>
        <p:spPr>
          <a:xfrm>
            <a:off x="45720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8" name="Image 4" descr="FaCub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549701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43000" y="3429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表示の切り替え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114300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計画建物・周辺の建物をそれぞれオン・オフ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使い方は 5ステップ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914400" y="1691640"/>
            <a:ext cx="73152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icon tile"/>
          <p:cNvSpPr/>
          <p:nvPr/>
        </p:nvSpPr>
        <p:spPr>
          <a:xfrm>
            <a:off x="594360" y="132588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Fa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5" y="1501445"/>
            <a:ext cx="380390" cy="380390"/>
          </a:xfrm>
          <a:prstGeom prst="rect">
            <a:avLst/>
          </a:prstGeom>
        </p:spPr>
      </p:pic>
      <p:sp>
        <p:nvSpPr>
          <p:cNvPr id="6" name="number 1"/>
          <p:cNvSpPr/>
          <p:nvPr/>
        </p:nvSpPr>
        <p:spPr>
          <a:xfrm>
            <a:off x="1143000" y="1188720"/>
            <a:ext cx="292608" cy="292608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240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インストール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5603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「プラグイン」→「ZIPからインストール」で zip を選ぶ</a:t>
            </a:r>
            <a:endParaRPr lang="en-US" sz="1100" dirty="0"/>
          </a:p>
        </p:txBody>
      </p:sp>
      <p:sp>
        <p:nvSpPr>
          <p:cNvPr id="10" name="icon tile"/>
          <p:cNvSpPr/>
          <p:nvPr/>
        </p:nvSpPr>
        <p:spPr>
          <a:xfrm>
            <a:off x="2286000" y="132588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1" descr="FaLayerGro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565" y="1501445"/>
            <a:ext cx="380390" cy="380390"/>
          </a:xfrm>
          <a:prstGeom prst="rect">
            <a:avLst/>
          </a:prstGeom>
        </p:spPr>
      </p:pic>
      <p:sp>
        <p:nvSpPr>
          <p:cNvPr id="12" name="number 2"/>
          <p:cNvSpPr/>
          <p:nvPr/>
        </p:nvSpPr>
        <p:spPr>
          <a:xfrm>
            <a:off x="2834640" y="1188720"/>
            <a:ext cx="292608" cy="292608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83464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2240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レイヤを追加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148840" y="25603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建物のデータ（gpkg など）をQGISにドラッグ</a:t>
            </a:r>
            <a:endParaRPr lang="en-US" sz="1100" dirty="0"/>
          </a:p>
        </p:txBody>
      </p:sp>
      <p:sp>
        <p:nvSpPr>
          <p:cNvPr id="16" name="icon tile"/>
          <p:cNvSpPr/>
          <p:nvPr/>
        </p:nvSpPr>
        <p:spPr>
          <a:xfrm>
            <a:off x="3977640" y="132588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2" descr="FaMouse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3205" y="1501445"/>
            <a:ext cx="380390" cy="380390"/>
          </a:xfrm>
          <a:prstGeom prst="rect">
            <a:avLst/>
          </a:prstGeom>
        </p:spPr>
      </p:pic>
      <p:sp>
        <p:nvSpPr>
          <p:cNvPr id="18" name="number 3"/>
          <p:cNvSpPr/>
          <p:nvPr/>
        </p:nvSpPr>
        <p:spPr>
          <a:xfrm>
            <a:off x="4526280" y="1188720"/>
            <a:ext cx="292608" cy="292608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2628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3840480" y="2240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メニューを開く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840480" y="25603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「Web」→「Building 3D HTML」→「3D地図をHTMLに書き出す…」</a:t>
            </a:r>
            <a:endParaRPr lang="en-US" sz="1100" dirty="0"/>
          </a:p>
        </p:txBody>
      </p:sp>
      <p:sp>
        <p:nvSpPr>
          <p:cNvPr id="22" name="icon tile"/>
          <p:cNvSpPr/>
          <p:nvPr/>
        </p:nvSpPr>
        <p:spPr>
          <a:xfrm>
            <a:off x="5669280" y="132588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3" name="Image 3" descr="FaCheck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4845" y="1501445"/>
            <a:ext cx="380390" cy="380390"/>
          </a:xfrm>
          <a:prstGeom prst="rect">
            <a:avLst/>
          </a:prstGeom>
        </p:spPr>
      </p:pic>
      <p:sp>
        <p:nvSpPr>
          <p:cNvPr id="24" name="number 4"/>
          <p:cNvSpPr/>
          <p:nvPr/>
        </p:nvSpPr>
        <p:spPr>
          <a:xfrm>
            <a:off x="6217920" y="1188720"/>
            <a:ext cx="292608" cy="292608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532120" y="2240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設定して書き出す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532120" y="25603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建物レイヤと高さの列を確認して「書き出す」</a:t>
            </a:r>
            <a:endParaRPr lang="en-US" sz="1100" dirty="0"/>
          </a:p>
        </p:txBody>
      </p:sp>
      <p:sp>
        <p:nvSpPr>
          <p:cNvPr id="28" name="icon tile"/>
          <p:cNvSpPr/>
          <p:nvPr/>
        </p:nvSpPr>
        <p:spPr>
          <a:xfrm>
            <a:off x="7360920" y="132588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29" name="Image 4" descr="FaGlobeAsi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485" y="1501445"/>
            <a:ext cx="380390" cy="380390"/>
          </a:xfrm>
          <a:prstGeom prst="rect">
            <a:avLst/>
          </a:prstGeom>
        </p:spPr>
      </p:pic>
      <p:sp>
        <p:nvSpPr>
          <p:cNvPr id="30" name="number 5"/>
          <p:cNvSpPr/>
          <p:nvPr/>
        </p:nvSpPr>
        <p:spPr>
          <a:xfrm>
            <a:off x="7909560" y="1188720"/>
            <a:ext cx="292608" cy="292608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90956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7223760" y="2240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ブラウザで見る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7223760" y="25603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完了画面の「ブラウザで開く」で確認。ファイルは人に渡せる</a:t>
            </a:r>
            <a:endParaRPr lang="en-US" sz="1100" dirty="0"/>
          </a:p>
        </p:txBody>
      </p:sp>
      <p:sp>
        <p:nvSpPr>
          <p:cNvPr id="34" name="card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685800" y="38404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高さの列は自動で選ばれます。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「高さ」「measuredHeight」などの名前の列を探して最初から選ぶので、たいていは確認するだけで書き出せます。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書き出すときに決めること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3977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決めること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建物レイヤ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3Dにする面のレイヤ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対象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すべて／選択中の地物だけ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高さの列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高さ（m）が入った列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高さが空のとき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代わりに使う高さ（半透明で表示）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表示名の列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クリックしたときの見出し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詳細に出す列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クリックで出す列と、その別名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97280"/>
          <a:ext cx="3977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決めること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色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QGISのスタイルに合わせる／単色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計画建物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これから建てる建物のレイヤ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周辺の建物・範囲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まわりの建物と、表示する距離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背景地図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使う地図と、最初に出す地図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高さの強調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最初の倍率（1〜5倍）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タイトル・出典・出力先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画面の題名、PLATEAUの出典、保存場所</a:t>
                      </a:r>
                      <a:endParaRPr lang="en-US" sz="1100" dirty="0"/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左の6つが建物の基本、右の6つが一緒に表示するものと見た目の設定です。使わない項目は空欄のままで大丈夫です。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もう1つの機能：施設（点）と建物を照合する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「Web」→「Building 3D HTML」→「点と建物を照合する…」。施設の点が、どの建物のものかを当てはめます。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457200" y="1417320"/>
            <a:ext cx="25603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5" name="building"/>
          <p:cNvSpPr/>
          <p:nvPr/>
        </p:nvSpPr>
        <p:spPr>
          <a:xfrm>
            <a:off x="1280160" y="1600200"/>
            <a:ext cx="914400" cy="6858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oint"/>
          <p:cNvSpPr/>
          <p:nvPr/>
        </p:nvSpPr>
        <p:spPr>
          <a:xfrm>
            <a:off x="1664208" y="1874520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点が建物の中にある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その建物に当てはめる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3291840" y="1417320"/>
            <a:ext cx="25603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0" name="building"/>
          <p:cNvSpPr/>
          <p:nvPr/>
        </p:nvSpPr>
        <p:spPr>
          <a:xfrm>
            <a:off x="4114800" y="1600200"/>
            <a:ext cx="914400" cy="6858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earch radius"/>
          <p:cNvSpPr/>
          <p:nvPr/>
        </p:nvSpPr>
        <p:spPr>
          <a:xfrm>
            <a:off x="4873752" y="1673352"/>
            <a:ext cx="822960" cy="822960"/>
          </a:xfrm>
          <a:prstGeom prst="ellipse">
            <a:avLst/>
          </a:prstGeom>
          <a:solidFill>
            <a:schemeClr val="accent4">
              <a:alpha val="2500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2" name="point"/>
          <p:cNvSpPr/>
          <p:nvPr/>
        </p:nvSpPr>
        <p:spPr>
          <a:xfrm>
            <a:off x="5257800" y="2057400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中にはないが 30m 以内に建物がある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いちばん近い建物に当てはめる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印：近くの建物で代用</a:t>
            </a:r>
            <a:endParaRPr lang="en-US" sz="1100" dirty="0"/>
          </a:p>
        </p:txBody>
      </p:sp>
      <p:sp>
        <p:nvSpPr>
          <p:cNvPr id="16" name="card"/>
          <p:cNvSpPr/>
          <p:nvPr/>
        </p:nvSpPr>
        <p:spPr>
          <a:xfrm>
            <a:off x="6126480" y="1417320"/>
            <a:ext cx="25603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7" name="building"/>
          <p:cNvSpPr/>
          <p:nvPr/>
        </p:nvSpPr>
        <p:spPr>
          <a:xfrm>
            <a:off x="6949440" y="1600200"/>
            <a:ext cx="914400" cy="6858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point"/>
          <p:cNvSpPr/>
          <p:nvPr/>
        </p:nvSpPr>
        <p:spPr>
          <a:xfrm>
            <a:off x="8412480" y="2423160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30m 以内に建物がない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当てはめない（別の点レイヤへ）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218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印：建物なし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91363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結果：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建物の形に「建物の列＋施設の列＋判定」を付けた新しいレイヤ。1つの建物に施設が複数あれば1棟にまとめ、施設の値を「 / 」でつなぎ「施設数」を付けます。距離（30m）は変えられます。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PLATEAU の建物データでも使える</a:t>
            </a:r>
            <a:endParaRPr lang="en-US" sz="2800" dirty="0"/>
          </a:p>
        </p:txBody>
      </p:sp>
      <p:sp>
        <p:nvSpPr>
          <p:cNvPr id="3" name="icon tile"/>
          <p:cNvSpPr/>
          <p:nvPr/>
        </p:nvSpPr>
        <p:spPr>
          <a:xfrm>
            <a:off x="457200" y="1188720"/>
            <a:ext cx="1005840" cy="1005840"/>
          </a:xfrm>
          <a:prstGeom prst="roundRect">
            <a:avLst>
              <a:gd name="adj" fmla="val 22000"/>
            </a:avLst>
          </a:prstGeom>
          <a:solidFill>
            <a:schemeClr val="tx2"/>
          </a:solidFill>
          <a:ln/>
        </p:spPr>
      </p:sp>
      <p:pic>
        <p:nvPicPr>
          <p:cNvPr id="4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602" y="143012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1887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国土交通省の3D都市モデル PLATEAU を、QGISに読み込んで使えます。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高さの列は measuredHeight が自動で選ばれます。</a:t>
            </a:r>
            <a:endParaRPr lang="en-US" sz="1400" dirty="0"/>
          </a:p>
        </p:txBody>
      </p:sp>
      <p:sp>
        <p:nvSpPr>
          <p:cNvPr id="6" name="number 1"/>
          <p:cNvSpPr/>
          <p:nvPr/>
        </p:nvSpPr>
        <p:spPr>
          <a:xfrm>
            <a:off x="457200" y="251460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5420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「PLATEAU QGIS Plugin」（国土交通省）を入れる</a:t>
            </a:r>
            <a:endParaRPr lang="en-US" sz="1200" dirty="0"/>
          </a:p>
        </p:txBody>
      </p:sp>
      <p:sp>
        <p:nvSpPr>
          <p:cNvPr id="9" name="number 2"/>
          <p:cNvSpPr/>
          <p:nvPr/>
        </p:nvSpPr>
        <p:spPr>
          <a:xfrm>
            <a:off x="457200" y="301752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044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「PLATEAU 3D都市モデルを読み込む」で CityGML を読み込む</a:t>
            </a:r>
            <a:endParaRPr lang="en-US" sz="1200" dirty="0"/>
          </a:p>
        </p:txBody>
      </p:sp>
      <p:sp>
        <p:nvSpPr>
          <p:cNvPr id="12" name="number 3"/>
          <p:cNvSpPr/>
          <p:nvPr/>
        </p:nvSpPr>
        <p:spPr>
          <a:xfrm>
            <a:off x="457200" y="3520440"/>
            <a:ext cx="329184" cy="32918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建物（bldg_Building）のレイヤを「建物レイヤ」か「周辺の建物」に選ぶ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5394960" y="2423160"/>
            <a:ext cx="32918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25603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立体（LOD1）のままでもOK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屋根・床・壁の面が集まった立体は、書き出すときに「真上から見た1つの形」にまとめてから立ち上げます。平面（LOD0）でも使えます。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出典に「PLATEAU（国土交通省）」を表示するチェックもあります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今はまだできないこと・注意</a:t>
            </a:r>
            <a:endParaRPr lang="en-US" sz="2800" dirty="0"/>
          </a:p>
        </p:txBody>
      </p:sp>
      <p:sp>
        <p:nvSpPr>
          <p:cNvPr id="3" name="icon tile"/>
          <p:cNvSpPr/>
          <p:nvPr/>
        </p:nvSpPr>
        <p:spPr>
          <a:xfrm>
            <a:off x="457200" y="109728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4" name="Image 0" descr="Fa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4" y="12289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97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色分けは「単一」と「分類」だけ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3990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QGISの「段階」「ルールベース」は、いまは単色で書き出します</a:t>
            </a:r>
            <a:endParaRPr lang="en-US" sz="1100" dirty="0"/>
          </a:p>
        </p:txBody>
      </p:sp>
      <p:sp>
        <p:nvSpPr>
          <p:cNvPr id="7" name="icon tile"/>
          <p:cNvSpPr/>
          <p:nvPr/>
        </p:nvSpPr>
        <p:spPr>
          <a:xfrm>
            <a:off x="4663440" y="109728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8" name="Image 1" descr="Fa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22895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097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背景地図はネットが必要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3990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地理院の地図はネットから読み込みます。建物はネットがなくても表示</a:t>
            </a:r>
            <a:endParaRPr lang="en-US" sz="1100" dirty="0"/>
          </a:p>
        </p:txBody>
      </p:sp>
      <p:sp>
        <p:nvSpPr>
          <p:cNvPr id="11" name="icon tile"/>
          <p:cNvSpPr/>
          <p:nvPr/>
        </p:nvSpPr>
        <p:spPr>
          <a:xfrm>
            <a:off x="457200" y="219456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12" name="Image 2" descr="Fa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4" y="232623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194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地図は回せない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4963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見やすさのため北を上に固定。傾きは 2D／3D ボタンだけで切り替え</a:t>
            </a:r>
            <a:endParaRPr lang="en-US" sz="1100" dirty="0"/>
          </a:p>
        </p:txBody>
      </p:sp>
      <p:sp>
        <p:nvSpPr>
          <p:cNvPr id="15" name="icon tile"/>
          <p:cNvSpPr/>
          <p:nvPr/>
        </p:nvSpPr>
        <p:spPr>
          <a:xfrm>
            <a:off x="4663440" y="219456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16" name="Image 3" descr="FaSa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326234"/>
            <a:ext cx="285293" cy="28529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194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設定は保存されない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4963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ダイアログの設定は、書き出すたびに選び直します</a:t>
            </a:r>
            <a:endParaRPr lang="en-US" sz="1100" dirty="0"/>
          </a:p>
        </p:txBody>
      </p:sp>
      <p:sp>
        <p:nvSpPr>
          <p:cNvPr id="19" name="icon tile"/>
          <p:cNvSpPr/>
          <p:nvPr/>
        </p:nvSpPr>
        <p:spPr>
          <a:xfrm>
            <a:off x="457200" y="329184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20" name="Image 4" descr="FaExclamationTriang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4" y="3423514"/>
            <a:ext cx="285293" cy="285293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形が読めない建物は除外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5935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空・面でない・座標変換できないもの。除外した件数は完了画面に出ます</a:t>
            </a:r>
            <a:endParaRPr lang="en-US" sz="1100" dirty="0"/>
          </a:p>
        </p:txBody>
      </p:sp>
      <p:sp>
        <p:nvSpPr>
          <p:cNvPr id="23" name="icon tile"/>
          <p:cNvSpPr/>
          <p:nvPr/>
        </p:nvSpPr>
        <p:spPr>
          <a:xfrm>
            <a:off x="4663440" y="329184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accent5"/>
          </a:solidFill>
          <a:ln/>
        </p:spPr>
      </p:sp>
      <p:pic>
        <p:nvPicPr>
          <p:cNvPr id="24" name="Image 5" descr="FaC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423514"/>
            <a:ext cx="285293" cy="285293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あとで足す予定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5935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件数が多いときの警告、ダークモード、海外の地図など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まとめ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QGISの建物データを、渡せる3D地図に</a:t>
            </a:r>
            <a:endParaRPr lang="en-US" sz="1800" dirty="0"/>
          </a:p>
        </p:txBody>
      </p:sp>
      <p:sp>
        <p:nvSpPr>
          <p:cNvPr id="4" name="icon tile"/>
          <p:cNvSpPr/>
          <p:nvPr/>
        </p:nvSpPr>
        <p:spPr>
          <a:xfrm>
            <a:off x="5486400" y="123444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9046" y="1377086"/>
            <a:ext cx="309067" cy="3090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63640" y="12344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HTMLファイル1つで完結。相手はブラウザで開くだけ</a:t>
            </a:r>
            <a:endParaRPr lang="en-US" sz="1300" dirty="0"/>
          </a:p>
        </p:txBody>
      </p:sp>
      <p:sp>
        <p:nvSpPr>
          <p:cNvPr id="7" name="icon tile"/>
          <p:cNvSpPr/>
          <p:nvPr/>
        </p:nvSpPr>
        <p:spPr>
          <a:xfrm>
            <a:off x="5486400" y="219456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046" y="2337206"/>
            <a:ext cx="309067" cy="3090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21945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QGISの色分け・選んだ列をそのまま3D地図に</a:t>
            </a:r>
            <a:endParaRPr lang="en-US" sz="1300" dirty="0"/>
          </a:p>
        </p:txBody>
      </p:sp>
      <p:sp>
        <p:nvSpPr>
          <p:cNvPr id="10" name="icon tile"/>
          <p:cNvSpPr/>
          <p:nvPr/>
        </p:nvSpPr>
        <p:spPr>
          <a:xfrm>
            <a:off x="5486400" y="315468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2"/>
          </a:solidFill>
          <a:ln/>
        </p:spPr>
      </p:sp>
      <p:pic>
        <p:nvPicPr>
          <p:cNvPr id="11" name="Image 2" descr="FaDrafting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046" y="3297326"/>
            <a:ext cx="309067" cy="30906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63640" y="31546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計画建物・周辺の建物で、今と計画後を見比べ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ilding 3D">
  <a:themeElements>
    <a:clrScheme name="Building 3D">
      <a:dk1>
        <a:srgbClr val="1E2A33"/>
      </a:dk1>
      <a:lt1>
        <a:srgbClr val="FFFFFF"/>
      </a:lt1>
      <a:dk2>
        <a:srgbClr val="1F3A4D"/>
      </a:dk2>
      <a:lt2>
        <a:srgbClr val="EEF2F5"/>
      </a:lt2>
      <a:accent1>
        <a:srgbClr val="2C5D8A"/>
      </a:accent1>
      <a:accent2>
        <a:srgbClr val="E4572E"/>
      </a:accent2>
      <a:accent3>
        <a:srgbClr val="7F9FC4"/>
      </a:accent3>
      <a:accent4>
        <a:srgbClr val="E2BB55"/>
      </a:accent4>
      <a:accent5>
        <a:srgbClr val="6B7785"/>
      </a:accent5>
      <a:accent6>
        <a:srgbClr val="3A8F7B"/>
      </a:accent6>
      <a:hlink>
        <a:srgbClr val="2C5D8A"/>
      </a:hlink>
      <a:folHlink>
        <a:srgbClr val="6B7785"/>
      </a:folHlink>
    </a:clrScheme>
    <a:fontScheme name="Building 3D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3D HTML でできること</dc:title>
  <dc:subject>PptxGenJS Presentation</dc:subject>
  <dc:creator>りんとゆう</dc:creator>
  <cp:lastModifiedBy>りんとゆう</cp:lastModifiedBy>
  <cp:revision>1</cp:revision>
  <dcterms:created xsi:type="dcterms:W3CDTF">2026-10-13T08:45:35Z</dcterms:created>
  <dcterms:modified xsi:type="dcterms:W3CDTF">2026-10-13T08:45:35Z</dcterms:modified>
</cp:coreProperties>
</file>
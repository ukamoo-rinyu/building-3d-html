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はじめに" id="{52456d8d-e116-849e-574f-74e15105966b}">
          <p14:sldIdLst>
            <p14:sldId id="256"/>
            <p14:sldId id="257"/>
          </p14:sldIdLst>
        </p14:section>
        <p14:section name="できること" id="{05d7bf97-efc9-18bc-786e-f5b7d5d674f9}">
          <p14:sldIdLst>
            <p14:sldId id="258"/>
            <p14:sldId id="259"/>
            <p14:sldId id="260"/>
            <p14:sldId id="261"/>
            <p14:sldId id="262"/>
          </p14:sldIdLst>
        </p14:section>
        <p14:section name="使い方" id="{4439a352-d489-5c27-d33e-b70faaef8772}">
          <p14:sldIdLst>
            <p14:sldId id="263"/>
            <p14:sldId id="264"/>
          </p14:sldIdLst>
        </p14:section>
        <p14:section name="ほかの機能" id="{0a1343b4-330f-b5f2-7834-f29c6e2de872}">
          <p14:sldIdLst>
            <p14:sldId id="265"/>
            <p14:sldId id="266"/>
            <p14:sldId id="267"/>
            <p14:sldId id="268"/>
          </p14:sldIdLst>
        </p14:section>
        <p14:section name="まとめ" id="{8ac89a8a-3813-7f87-6ed7-7831b687a6ed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このスライドでは、自作のQGISプラグイン「Building 3D HTML」でできることを、初めての人向けに説明します。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入力はQGISの面レイヤ、出力はHTMLファイル1つだけ。メールやチャットで渡せば、相手はダブルクリックでブラウザから3D地図を見られます。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書き出したHTMLを開くとこの画面になります。北が上に固定されていて、マウスでドラッグすると移動、ホイールで拡大縮小します。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ここから先のスライドで、主なものを画面つきで説明します。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どの列を見せるかは書き出すときに選ぶので、見せたくない列はHTMLに入りません。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レイヤ名に「計画」が入っている面レイヤがあれば、ダイアログで最初から選ばれます。周辺の建物も同じように、灰色の背景として出せます。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見る人が自分で切り替えられるので、ひとつのファイルで説明に合わせた見せ方ができます。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インストールは最初の1回だけ。プラグインを新しくしたときは、もう一度 zip からインストールしてQGISを再起動します。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ダイアログは画面からはみ出さないよう、中身がスクロールします。「書き出す」ボタンはいつも下に出ています。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照合した結果のレイヤを、そのまま3D地図の書き出しに使えます。例えば施設の種類で色分けして書き出す、といった使い方です。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照合の完了画面の「確認しながら直す…」で、QGISの右側にこのパネルが開きます。施設の点がズレていて、隣の建物に当たってしまった場合などに使います。保存するまでは編集中なので、QGISの「編集を取り消す」で全部やめることもで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PLATEAUの建物を「周辺の建物」に使うと、自分のデータのまわりの街並みを灰色で表示できます。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いまは試作版（0.1）です。よく使う機能から順に足していく予定です。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まずは手元の建物データで1つ書き出して、ブラウザで開いてみてください。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4389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4297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Building 3D HTML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QGISの建物データを、だれでも開ける3D地図にするプラグイン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QGISプラグイン　できること・使い方の説明</a:t>
            </a:r>
            <a:endParaRPr lang="en-US" sz="1200" dirty="0"/>
          </a:p>
        </p:txBody>
      </p:sp>
      <p:pic>
        <p:nvPicPr>
          <p:cNvPr id="5" name="Image 0" descr="書き出した3D地図の画面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188720"/>
            <a:ext cx="3566160" cy="267462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E2A33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ひとことで言うと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4688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4" name="icon tile"/>
          <p:cNvSpPr/>
          <p:nvPr/>
        </p:nvSpPr>
        <p:spPr>
          <a:xfrm>
            <a:off x="1325880" y="1371600"/>
            <a:ext cx="731520" cy="73152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5" name="Image 0" descr="FaLayerGro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1445" y="154716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QGISの建物レイヤ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建物の形（面）と、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高さの列があるデータ</a:t>
            </a:r>
            <a:endParaRPr lang="en-US" sz="1200" dirty="0"/>
          </a:p>
        </p:txBody>
      </p:sp>
      <p:sp>
        <p:nvSpPr>
          <p:cNvPr id="8" name="arrow"/>
          <p:cNvSpPr/>
          <p:nvPr/>
        </p:nvSpPr>
        <p:spPr>
          <a:xfrm>
            <a:off x="2999232" y="2011680"/>
            <a:ext cx="274320" cy="36576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9" name="card"/>
          <p:cNvSpPr/>
          <p:nvPr/>
        </p:nvSpPr>
        <p:spPr>
          <a:xfrm>
            <a:off x="3337560" y="1188720"/>
            <a:ext cx="24688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0" name="icon tile"/>
          <p:cNvSpPr/>
          <p:nvPr/>
        </p:nvSpPr>
        <p:spPr>
          <a:xfrm>
            <a:off x="4206240" y="1371600"/>
            <a:ext cx="731520" cy="731520"/>
          </a:xfrm>
          <a:prstGeom prst="roundRect">
            <a:avLst>
              <a:gd name="adj" fmla="val 22000"/>
            </a:avLst>
          </a:prstGeom>
          <a:solidFill>
            <a:schemeClr val="accent2"/>
          </a:solidFill>
          <a:ln/>
        </p:spPr>
      </p:sp>
      <p:pic>
        <p:nvPicPr>
          <p:cNvPr id="11" name="Image 1" descr="FaPuzzlePie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805" y="154716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7472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Building 3D HTML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ダイアログで設定して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「書き出す」を押すだけ</a:t>
            </a:r>
            <a:endParaRPr lang="en-US" sz="1200" dirty="0"/>
          </a:p>
        </p:txBody>
      </p:sp>
      <p:sp>
        <p:nvSpPr>
          <p:cNvPr id="14" name="arrow"/>
          <p:cNvSpPr/>
          <p:nvPr/>
        </p:nvSpPr>
        <p:spPr>
          <a:xfrm>
            <a:off x="5879592" y="2011680"/>
            <a:ext cx="274320" cy="36576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5" name="card"/>
          <p:cNvSpPr/>
          <p:nvPr/>
        </p:nvSpPr>
        <p:spPr>
          <a:xfrm>
            <a:off x="6217920" y="1188720"/>
            <a:ext cx="24688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6" name="icon tile"/>
          <p:cNvSpPr/>
          <p:nvPr/>
        </p:nvSpPr>
        <p:spPr>
          <a:xfrm>
            <a:off x="7086600" y="1371600"/>
            <a:ext cx="731520" cy="73152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7" name="Image 2" descr="FaGlobeAsi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2165" y="1547165"/>
            <a:ext cx="380390" cy="38039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5508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HTMLファイル 1つ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355080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ブラウザで開くと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建物が立体で見える</a:t>
            </a:r>
            <a:endParaRPr lang="en-US" sz="1200" dirty="0"/>
          </a:p>
        </p:txBody>
      </p:sp>
      <p:sp>
        <p:nvSpPr>
          <p:cNvPr id="20" name="card"/>
          <p:cNvSpPr/>
          <p:nvPr/>
        </p:nvSpPr>
        <p:spPr>
          <a:xfrm>
            <a:off x="457200" y="3520440"/>
            <a:ext cx="822960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31520" y="36576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QGISを持っていない人にも、ファイルを渡すだけで見てもらえる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地図を表示する仕組み（MapLibre）もファイルに入っているので、ソフトのインストールは不要です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できあがる画面</a:t>
            </a:r>
            <a:endParaRPr lang="en-US" sz="2800" dirty="0"/>
          </a:p>
        </p:txBody>
      </p:sp>
      <p:pic>
        <p:nvPicPr>
          <p:cNvPr id="3" name="Image 0" descr="書き出したHTMLをブラウザで開いた画面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5394960" cy="3034665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E2A33">
                <a:alpha val="18000"/>
              </a:srgbClr>
            </a:outerShdw>
          </a:effectLst>
        </p:spPr>
      </p:pic>
      <p:sp>
        <p:nvSpPr>
          <p:cNvPr id="4" name="number 1"/>
          <p:cNvSpPr/>
          <p:nvPr/>
        </p:nvSpPr>
        <p:spPr>
          <a:xfrm>
            <a:off x="1354741" y="1079564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354741" y="10795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number 2"/>
          <p:cNvSpPr/>
          <p:nvPr/>
        </p:nvSpPr>
        <p:spPr>
          <a:xfrm>
            <a:off x="1219867" y="3541014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219867" y="35410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number 3"/>
          <p:cNvSpPr/>
          <p:nvPr/>
        </p:nvSpPr>
        <p:spPr>
          <a:xfrm>
            <a:off x="5660593" y="1045845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660593" y="104584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0" name="number 4"/>
          <p:cNvSpPr/>
          <p:nvPr/>
        </p:nvSpPr>
        <p:spPr>
          <a:xfrm>
            <a:off x="3664458" y="2866644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64458" y="28666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2" name="number 1"/>
          <p:cNvSpPr/>
          <p:nvPr/>
        </p:nvSpPr>
        <p:spPr>
          <a:xfrm>
            <a:off x="6172200" y="1143000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72200" y="1143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629400" y="11247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操作パネル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629400" y="1417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高さの強調・背景地図・計画建物のオン／オフ</a:t>
            </a:r>
            <a:endParaRPr lang="en-US" sz="1100" dirty="0"/>
          </a:p>
        </p:txBody>
      </p:sp>
      <p:sp>
        <p:nvSpPr>
          <p:cNvPr id="16" name="number 2"/>
          <p:cNvSpPr/>
          <p:nvPr/>
        </p:nvSpPr>
        <p:spPr>
          <a:xfrm>
            <a:off x="6172200" y="1892808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172200" y="1892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629400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凡例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629400" y="216712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色分けの名前と、それぞれの棟数</a:t>
            </a:r>
            <a:endParaRPr lang="en-US" sz="1100" dirty="0"/>
          </a:p>
        </p:txBody>
      </p:sp>
      <p:sp>
        <p:nvSpPr>
          <p:cNvPr id="20" name="number 3"/>
          <p:cNvSpPr/>
          <p:nvPr/>
        </p:nvSpPr>
        <p:spPr>
          <a:xfrm>
            <a:off x="6172200" y="2642616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172200" y="2642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629400" y="26243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拡大・縮小と 2D／3D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629400" y="291693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真上から見るか、斜めから見るかを切り替え</a:t>
            </a:r>
            <a:endParaRPr lang="en-US" sz="1100" dirty="0"/>
          </a:p>
        </p:txBody>
      </p:sp>
      <p:sp>
        <p:nvSpPr>
          <p:cNvPr id="24" name="number 4"/>
          <p:cNvSpPr/>
          <p:nvPr/>
        </p:nvSpPr>
        <p:spPr>
          <a:xfrm>
            <a:off x="6172200" y="3392424"/>
            <a:ext cx="329184" cy="32918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172200" y="3392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629400" y="33741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建物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629400" y="366674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高さの分だけ立ち上がる。クリックで詳細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42976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※ 見本は試しのデータ（市営住宅）。オレンジの建物は説明用の架空の計画建物です。背景地図は「なし」で表示しています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できること 8つ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4" name="icon tile"/>
          <p:cNvSpPr/>
          <p:nvPr/>
        </p:nvSpPr>
        <p:spPr>
          <a:xfrm>
            <a:off x="594360" y="123444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5" name="Image 0" descr="FaBuild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34416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高さで立ち上げる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07568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高さの列の数字で建物を立体に。空の建物は決めた高さで補い、半透明で表示</a:t>
            </a:r>
            <a:endParaRPr lang="en-US" sz="1000" dirty="0"/>
          </a:p>
        </p:txBody>
      </p:sp>
      <p:sp>
        <p:nvSpPr>
          <p:cNvPr id="8" name="card"/>
          <p:cNvSpPr/>
          <p:nvPr/>
        </p:nvSpPr>
        <p:spPr>
          <a:xfrm>
            <a:off x="2560320" y="109728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9" name="icon tile"/>
          <p:cNvSpPr/>
          <p:nvPr/>
        </p:nvSpPr>
        <p:spPr>
          <a:xfrm>
            <a:off x="2697480" y="123444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0" name="Image 1" descr="FaPalet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208" y="134416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9748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色分けを引き継ぐ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2697480" y="207568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QGISの「分類」の色をそのまま使える。単色も選べる</a:t>
            </a:r>
            <a:endParaRPr lang="en-US" sz="1000" dirty="0"/>
          </a:p>
        </p:txBody>
      </p:sp>
      <p:sp>
        <p:nvSpPr>
          <p:cNvPr id="13" name="card"/>
          <p:cNvSpPr/>
          <p:nvPr/>
        </p:nvSpPr>
        <p:spPr>
          <a:xfrm>
            <a:off x="4663440" y="109728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4" name="icon tile"/>
          <p:cNvSpPr/>
          <p:nvPr/>
        </p:nvSpPr>
        <p:spPr>
          <a:xfrm>
            <a:off x="4800600" y="123444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5" name="Image 2" descr="FaHandPoint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328" y="134416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0060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クリックで詳細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800600" y="207568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建物名と、選んだ列の値を表示。項目名も変えられる</a:t>
            </a:r>
            <a:endParaRPr lang="en-US" sz="1000" dirty="0"/>
          </a:p>
        </p:txBody>
      </p:sp>
      <p:sp>
        <p:nvSpPr>
          <p:cNvPr id="18" name="card"/>
          <p:cNvSpPr/>
          <p:nvPr/>
        </p:nvSpPr>
        <p:spPr>
          <a:xfrm>
            <a:off x="6766560" y="109728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9" name="icon tile"/>
          <p:cNvSpPr/>
          <p:nvPr/>
        </p:nvSpPr>
        <p:spPr>
          <a:xfrm>
            <a:off x="6903720" y="123444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2"/>
          </a:solidFill>
          <a:ln/>
        </p:spPr>
      </p:sp>
      <p:pic>
        <p:nvPicPr>
          <p:cNvPr id="20" name="Image 3" descr="FaDraftingCompas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134416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0372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計画建物と見比べ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903720" y="207568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これから建てる建物を半透明のオレンジで。オン・オフで今と比べる</a:t>
            </a:r>
            <a:endParaRPr lang="en-US" sz="1000" dirty="0"/>
          </a:p>
        </p:txBody>
      </p:sp>
      <p:sp>
        <p:nvSpPr>
          <p:cNvPr id="23" name="card"/>
          <p:cNvSpPr/>
          <p:nvPr/>
        </p:nvSpPr>
        <p:spPr>
          <a:xfrm>
            <a:off x="457200" y="288036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24" name="icon tile"/>
          <p:cNvSpPr/>
          <p:nvPr/>
        </p:nvSpPr>
        <p:spPr>
          <a:xfrm>
            <a:off x="594360" y="301752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25" name="Image 4" descr="FaCit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3127248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94360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周辺の建物も表示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594360" y="385876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まわりの建物（PLATEAUなど）を、決めた範囲だけ灰色で</a:t>
            </a:r>
            <a:endParaRPr lang="en-US" sz="1000" dirty="0"/>
          </a:p>
        </p:txBody>
      </p:sp>
      <p:sp>
        <p:nvSpPr>
          <p:cNvPr id="28" name="card"/>
          <p:cNvSpPr/>
          <p:nvPr/>
        </p:nvSpPr>
        <p:spPr>
          <a:xfrm>
            <a:off x="2560320" y="288036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29" name="icon tile"/>
          <p:cNvSpPr/>
          <p:nvPr/>
        </p:nvSpPr>
        <p:spPr>
          <a:xfrm>
            <a:off x="2697480" y="301752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30" name="Image 5" descr="FaMap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7208" y="3127248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2697480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背景地図を選べる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2697480" y="385876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地理院の淡色地図・航空写真・なし。濃さも調整できる</a:t>
            </a:r>
            <a:endParaRPr lang="en-US" sz="1000" dirty="0"/>
          </a:p>
        </p:txBody>
      </p:sp>
      <p:sp>
        <p:nvSpPr>
          <p:cNvPr id="33" name="card"/>
          <p:cNvSpPr/>
          <p:nvPr/>
        </p:nvSpPr>
        <p:spPr>
          <a:xfrm>
            <a:off x="4663440" y="288036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34" name="icon tile"/>
          <p:cNvSpPr/>
          <p:nvPr/>
        </p:nvSpPr>
        <p:spPr>
          <a:xfrm>
            <a:off x="4800600" y="301752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35" name="Image 6" descr="FaArrowsAltV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0328" y="3127248"/>
            <a:ext cx="237744" cy="237744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4800600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高さを強調</a:t>
            </a:r>
            <a:endParaRPr lang="en-US" sz="1300" dirty="0"/>
          </a:p>
        </p:txBody>
      </p:sp>
      <p:sp>
        <p:nvSpPr>
          <p:cNvPr id="37" name="Text 28"/>
          <p:cNvSpPr txBox="1"/>
          <p:nvPr/>
        </p:nvSpPr>
        <p:spPr>
          <a:xfrm>
            <a:off x="4800600" y="385876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1倍・3倍・5倍に切り替え。低い建物どうしの差も見やすく</a:t>
            </a:r>
            <a:endParaRPr lang="en-US" sz="1000" dirty="0"/>
          </a:p>
        </p:txBody>
      </p:sp>
      <p:sp>
        <p:nvSpPr>
          <p:cNvPr id="38" name="card"/>
          <p:cNvSpPr/>
          <p:nvPr/>
        </p:nvSpPr>
        <p:spPr>
          <a:xfrm>
            <a:off x="6766560" y="288036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39" name="icon tile"/>
          <p:cNvSpPr/>
          <p:nvPr/>
        </p:nvSpPr>
        <p:spPr>
          <a:xfrm>
            <a:off x="6903720" y="301752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40" name="Image 7" descr="MdWifiOff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3448" y="3127248"/>
            <a:ext cx="237744" cy="237744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6903720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ネットなしでもOK</a:t>
            </a:r>
            <a:endParaRPr lang="en-US" sz="1300" dirty="0"/>
          </a:p>
        </p:txBody>
      </p:sp>
      <p:sp>
        <p:nvSpPr>
          <p:cNvPr id="42" name="Text 32"/>
          <p:cNvSpPr txBox="1"/>
          <p:nvPr/>
        </p:nvSpPr>
        <p:spPr>
          <a:xfrm>
            <a:off x="6903720" y="385876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建物はファイルの中に入っている。背景地図だけネットが必要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建物をクリックすると、詳しい情報が出る</a:t>
            </a:r>
            <a:endParaRPr lang="en-US" sz="2800" dirty="0"/>
          </a:p>
        </p:txBody>
      </p:sp>
      <p:pic>
        <p:nvPicPr>
          <p:cNvPr id="3" name="Image 0" descr="建物をクリックして詳細を表示した画面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1143000"/>
            <a:ext cx="5394960" cy="3034665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E2A33">
                <a:alpha val="18000"/>
              </a:srgbClr>
            </a:outerShdw>
          </a:effectLst>
        </p:spPr>
      </p:pic>
      <p:sp>
        <p:nvSpPr>
          <p:cNvPr id="4" name="number 1"/>
          <p:cNvSpPr/>
          <p:nvPr/>
        </p:nvSpPr>
        <p:spPr>
          <a:xfrm>
            <a:off x="457200" y="1143000"/>
            <a:ext cx="329184" cy="32918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143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143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書き出す前に決める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444752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ダイアログの「表示名の列」で見出しに出す列、「詳細に出す列」で一覧に出す列を選ぶ。項目名（別名）も付けられる</a:t>
            </a:r>
            <a:endParaRPr lang="en-US" sz="1000" dirty="0"/>
          </a:p>
        </p:txBody>
      </p:sp>
      <p:sp>
        <p:nvSpPr>
          <p:cNvPr id="8" name="number 2"/>
          <p:cNvSpPr/>
          <p:nvPr/>
        </p:nvSpPr>
        <p:spPr>
          <a:xfrm>
            <a:off x="457200" y="2240280"/>
            <a:ext cx="329184" cy="32918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2240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HTMLでクリック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542032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右上に建物の情報が出る。選んだ建物は枠で目立つ</a:t>
            </a:r>
            <a:endParaRPr lang="en-US" sz="1000" dirty="0"/>
          </a:p>
        </p:txBody>
      </p:sp>
      <p:sp>
        <p:nvSpPr>
          <p:cNvPr id="12" name="number 3"/>
          <p:cNvSpPr/>
          <p:nvPr/>
        </p:nvSpPr>
        <p:spPr>
          <a:xfrm>
            <a:off x="457200" y="3337560"/>
            <a:ext cx="329184" cy="32918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3337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37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高さの出どころも分かる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639312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最後の行に「3D表示の高さ」。補った高さならそう書かれる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計画建物で「今」と「計画後」を見比べる</a:t>
            </a:r>
            <a:endParaRPr lang="en-US" sz="2800" dirty="0"/>
          </a:p>
        </p:txBody>
      </p:sp>
      <p:pic>
        <p:nvPicPr>
          <p:cNvPr id="3" name="Image 0" descr="計画建物を表示：オフ（今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657600" cy="27432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E2A33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5720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計画建物を表示：オフ（今）</a:t>
            </a:r>
            <a:endParaRPr lang="en-US" sz="1300" dirty="0"/>
          </a:p>
        </p:txBody>
      </p:sp>
      <p:pic>
        <p:nvPicPr>
          <p:cNvPr id="5" name="Image 1" descr="計画建物を表示：オン（計画後）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3657600" cy="27432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E2A33">
                <a:alpha val="18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502920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計画建物を表示：オン（計画後）</a:t>
            </a:r>
            <a:endParaRPr lang="en-US" sz="1300" dirty="0"/>
          </a:p>
        </p:txBody>
      </p:sp>
      <p:sp>
        <p:nvSpPr>
          <p:cNvPr id="7" name="arrow"/>
          <p:cNvSpPr/>
          <p:nvPr/>
        </p:nvSpPr>
        <p:spPr>
          <a:xfrm>
            <a:off x="4434840" y="2103120"/>
            <a:ext cx="274320" cy="36576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計画建物のレイヤを選ぶと、半透明のオレンジで立ち上がります。HTMLの「計画建物を表示」のチェックで、出したり消したりできます。クリックすると名称・高さ・メモなどが出ます。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見え方は、HTMLを開いたあとでも変えられる</a:t>
            </a:r>
            <a:endParaRPr lang="en-US" sz="2800" dirty="0"/>
          </a:p>
        </p:txBody>
      </p:sp>
      <p:pic>
        <p:nvPicPr>
          <p:cNvPr id="3" name="Image 0" descr="高さを3倍にした画面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097280"/>
            <a:ext cx="3840480" cy="288036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E2A33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846320" y="4069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高さを3倍にした例</a:t>
            </a:r>
            <a:endParaRPr lang="en-US" sz="1100" dirty="0"/>
          </a:p>
        </p:txBody>
      </p:sp>
      <p:sp>
        <p:nvSpPr>
          <p:cNvPr id="5" name="icon tile"/>
          <p:cNvSpPr/>
          <p:nvPr/>
        </p:nvSpPr>
        <p:spPr>
          <a:xfrm>
            <a:off x="457200" y="1097280"/>
            <a:ext cx="502920" cy="50292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6" name="Image 1" descr="FaArrowsAlt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1" y="1217981"/>
            <a:ext cx="261518" cy="26151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1097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高さの強調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1倍・3倍・5倍（とダイアログで決めた倍率）を切り替え</a:t>
            </a:r>
            <a:endParaRPr lang="en-US" sz="1100" dirty="0"/>
          </a:p>
        </p:txBody>
      </p:sp>
      <p:sp>
        <p:nvSpPr>
          <p:cNvPr id="9" name="icon tile"/>
          <p:cNvSpPr/>
          <p:nvPr/>
        </p:nvSpPr>
        <p:spPr>
          <a:xfrm>
            <a:off x="457200" y="1874520"/>
            <a:ext cx="502920" cy="50292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0" name="Image 2" descr="FaMa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1" y="1995221"/>
            <a:ext cx="261518" cy="26151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1874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背景地図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2148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淡色地図・航空写真・なし。濃さはスライダーで調整</a:t>
            </a:r>
            <a:endParaRPr lang="en-US" sz="1100" dirty="0"/>
          </a:p>
        </p:txBody>
      </p:sp>
      <p:sp>
        <p:nvSpPr>
          <p:cNvPr id="13" name="icon tile"/>
          <p:cNvSpPr/>
          <p:nvPr/>
        </p:nvSpPr>
        <p:spPr>
          <a:xfrm>
            <a:off x="457200" y="2651760"/>
            <a:ext cx="502920" cy="50292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4" name="Image 3" descr="FaCompas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1" y="2772461"/>
            <a:ext cx="261518" cy="26151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43000" y="2651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2D／3D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1143000" y="2926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真上から見る・斜めから見るを1つのボタンで。北はいつも上</a:t>
            </a:r>
            <a:endParaRPr lang="en-US" sz="1100" dirty="0"/>
          </a:p>
        </p:txBody>
      </p:sp>
      <p:sp>
        <p:nvSpPr>
          <p:cNvPr id="17" name="icon tile"/>
          <p:cNvSpPr/>
          <p:nvPr/>
        </p:nvSpPr>
        <p:spPr>
          <a:xfrm>
            <a:off x="457200" y="3429000"/>
            <a:ext cx="502920" cy="50292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8" name="Image 4" descr="FaCub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901" y="3549701"/>
            <a:ext cx="261518" cy="26151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143000" y="3429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表示の切り替え</a:t>
            </a:r>
            <a:endParaRPr lang="en-US" sz="1400" dirty="0"/>
          </a:p>
        </p:txBody>
      </p:sp>
      <p:sp>
        <p:nvSpPr>
          <p:cNvPr id="20" name="Text 13"/>
          <p:cNvSpPr txBox="1"/>
          <p:nvPr/>
        </p:nvSpPr>
        <p:spPr>
          <a:xfrm>
            <a:off x="1143000" y="3703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計画建物・周辺の建物をそれぞれオン・オフ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使い方は 5ステップ</a:t>
            </a:r>
            <a:endParaRPr lang="en-US" sz="2800" dirty="0"/>
          </a:p>
        </p:txBody>
      </p:sp>
      <p:sp>
        <p:nvSpPr>
          <p:cNvPr id="3" name="timeline"/>
          <p:cNvSpPr/>
          <p:nvPr/>
        </p:nvSpPr>
        <p:spPr>
          <a:xfrm>
            <a:off x="914400" y="1691640"/>
            <a:ext cx="731520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4" name="icon tile"/>
          <p:cNvSpPr/>
          <p:nvPr/>
        </p:nvSpPr>
        <p:spPr>
          <a:xfrm>
            <a:off x="594360" y="1325880"/>
            <a:ext cx="731520" cy="73152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5" name="Image 0" descr="FaDownlo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925" y="1501445"/>
            <a:ext cx="380390" cy="380390"/>
          </a:xfrm>
          <a:prstGeom prst="rect">
            <a:avLst/>
          </a:prstGeom>
        </p:spPr>
      </p:pic>
      <p:sp>
        <p:nvSpPr>
          <p:cNvPr id="6" name="number 1"/>
          <p:cNvSpPr/>
          <p:nvPr/>
        </p:nvSpPr>
        <p:spPr>
          <a:xfrm>
            <a:off x="1143000" y="1188720"/>
            <a:ext cx="292608" cy="292608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2402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インストール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56032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「プラグイン」→「ZIPからインストール」で zip を選ぶ</a:t>
            </a:r>
            <a:endParaRPr lang="en-US" sz="1100" dirty="0"/>
          </a:p>
        </p:txBody>
      </p:sp>
      <p:sp>
        <p:nvSpPr>
          <p:cNvPr id="10" name="icon tile"/>
          <p:cNvSpPr/>
          <p:nvPr/>
        </p:nvSpPr>
        <p:spPr>
          <a:xfrm>
            <a:off x="2286000" y="1325880"/>
            <a:ext cx="731520" cy="73152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1" name="Image 1" descr="FaLayerGro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565" y="1501445"/>
            <a:ext cx="380390" cy="380390"/>
          </a:xfrm>
          <a:prstGeom prst="rect">
            <a:avLst/>
          </a:prstGeom>
        </p:spPr>
      </p:pic>
      <p:sp>
        <p:nvSpPr>
          <p:cNvPr id="12" name="number 2"/>
          <p:cNvSpPr/>
          <p:nvPr/>
        </p:nvSpPr>
        <p:spPr>
          <a:xfrm>
            <a:off x="2834640" y="1188720"/>
            <a:ext cx="292608" cy="292608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83464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148840" y="22402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レイヤを追加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2148840" y="256032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建物のデータ（gpkg など）をQGISにドラッグ</a:t>
            </a:r>
            <a:endParaRPr lang="en-US" sz="1100" dirty="0"/>
          </a:p>
        </p:txBody>
      </p:sp>
      <p:sp>
        <p:nvSpPr>
          <p:cNvPr id="16" name="icon tile"/>
          <p:cNvSpPr/>
          <p:nvPr/>
        </p:nvSpPr>
        <p:spPr>
          <a:xfrm>
            <a:off x="3977640" y="1325880"/>
            <a:ext cx="731520" cy="73152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7" name="Image 2" descr="FaMousePoint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3205" y="1501445"/>
            <a:ext cx="380390" cy="380390"/>
          </a:xfrm>
          <a:prstGeom prst="rect">
            <a:avLst/>
          </a:prstGeom>
        </p:spPr>
      </p:pic>
      <p:sp>
        <p:nvSpPr>
          <p:cNvPr id="18" name="number 3"/>
          <p:cNvSpPr/>
          <p:nvPr/>
        </p:nvSpPr>
        <p:spPr>
          <a:xfrm>
            <a:off x="4526280" y="1188720"/>
            <a:ext cx="292608" cy="292608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52628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3840480" y="22402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メニューを開く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3840480" y="256032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「Web」→「Building 3D HTML」→「3D地図をHTMLに書き出す…」</a:t>
            </a:r>
            <a:endParaRPr lang="en-US" sz="1100" dirty="0"/>
          </a:p>
        </p:txBody>
      </p:sp>
      <p:sp>
        <p:nvSpPr>
          <p:cNvPr id="22" name="icon tile"/>
          <p:cNvSpPr/>
          <p:nvPr/>
        </p:nvSpPr>
        <p:spPr>
          <a:xfrm>
            <a:off x="5669280" y="1325880"/>
            <a:ext cx="731520" cy="73152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23" name="Image 3" descr="FaCheckCirc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4845" y="1501445"/>
            <a:ext cx="380390" cy="380390"/>
          </a:xfrm>
          <a:prstGeom prst="rect">
            <a:avLst/>
          </a:prstGeom>
        </p:spPr>
      </p:pic>
      <p:sp>
        <p:nvSpPr>
          <p:cNvPr id="24" name="number 4"/>
          <p:cNvSpPr/>
          <p:nvPr/>
        </p:nvSpPr>
        <p:spPr>
          <a:xfrm>
            <a:off x="6217920" y="1188720"/>
            <a:ext cx="292608" cy="292608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217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5532120" y="22402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設定して書き出す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5532120" y="256032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建物レイヤと高さの列を確認して「書き出す」</a:t>
            </a:r>
            <a:endParaRPr lang="en-US" sz="1100" dirty="0"/>
          </a:p>
        </p:txBody>
      </p:sp>
      <p:sp>
        <p:nvSpPr>
          <p:cNvPr id="28" name="icon tile"/>
          <p:cNvSpPr/>
          <p:nvPr/>
        </p:nvSpPr>
        <p:spPr>
          <a:xfrm>
            <a:off x="7360920" y="1325880"/>
            <a:ext cx="731520" cy="731520"/>
          </a:xfrm>
          <a:prstGeom prst="roundRect">
            <a:avLst>
              <a:gd name="adj" fmla="val 22000"/>
            </a:avLst>
          </a:prstGeom>
          <a:solidFill>
            <a:schemeClr val="accent2"/>
          </a:solidFill>
          <a:ln/>
        </p:spPr>
      </p:sp>
      <p:pic>
        <p:nvPicPr>
          <p:cNvPr id="29" name="Image 4" descr="FaGlobeAsi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6485" y="1501445"/>
            <a:ext cx="380390" cy="380390"/>
          </a:xfrm>
          <a:prstGeom prst="rect">
            <a:avLst/>
          </a:prstGeom>
        </p:spPr>
      </p:pic>
      <p:sp>
        <p:nvSpPr>
          <p:cNvPr id="30" name="number 5"/>
          <p:cNvSpPr/>
          <p:nvPr/>
        </p:nvSpPr>
        <p:spPr>
          <a:xfrm>
            <a:off x="7909560" y="1188720"/>
            <a:ext cx="292608" cy="292608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790956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7223760" y="22402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ブラウザで見る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7223760" y="256032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完了画面の「ブラウザで開く」で確認。ファイルは人に渡せる</a:t>
            </a:r>
            <a:endParaRPr lang="en-US" sz="1100" dirty="0"/>
          </a:p>
        </p:txBody>
      </p:sp>
      <p:sp>
        <p:nvSpPr>
          <p:cNvPr id="34" name="card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35" name="Text 28"/>
          <p:cNvSpPr txBox="1"/>
          <p:nvPr/>
        </p:nvSpPr>
        <p:spPr>
          <a:xfrm>
            <a:off x="685800" y="38404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高さの列は自動で選ばれます。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「高さ」「measuredHeight」などの名前の列を探して最初から選ぶので、たいていは確認するだけで書き出せます。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書き出すときに決めること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39776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560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項目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決めること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建物レイヤ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3Dにする面のレイヤ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対象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すべて／選択中の地物だけ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高さの列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高さ（m）が入った列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高さが空のとき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代わりに使う高さ（半透明で表示）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表示名の列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クリックしたときの見出し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詳細に出す列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クリックで出す列と、その別名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97280"/>
          <a:ext cx="39776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560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項目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決めること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色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QGISのスタイルに合わせる／単色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計画建物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これから建てる建物のレイヤ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周辺の建物・範囲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まわりの建物と、表示する距離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背景地図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使う地図と、最初に出す地図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高さの強調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最初の倍率（1〜5倍）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タイトル・出典・出力先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画面の題名、PLATEAUの出典、保存場所</a:t>
                      </a:r>
                      <a:endParaRPr lang="en-US" sz="11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左の6つが建物の基本、右の6つが一緒に表示するものと見た目の設定です。使わない項目は空欄のままで大丈夫です。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もう1つの機能：施設（点）と建物を照合する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「Web」→「Building 3D HTML」→「点と建物を照合する…」。施設の点が、どの建物のものかを当てはめます。</a:t>
            </a:r>
            <a:endParaRPr lang="en-US" sz="1200" dirty="0"/>
          </a:p>
        </p:txBody>
      </p:sp>
      <p:sp>
        <p:nvSpPr>
          <p:cNvPr id="4" name="card"/>
          <p:cNvSpPr/>
          <p:nvPr/>
        </p:nvSpPr>
        <p:spPr>
          <a:xfrm>
            <a:off x="457200" y="1417320"/>
            <a:ext cx="256032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5" name="building"/>
          <p:cNvSpPr/>
          <p:nvPr/>
        </p:nvSpPr>
        <p:spPr>
          <a:xfrm>
            <a:off x="1280160" y="1600200"/>
            <a:ext cx="914400" cy="6858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oint"/>
          <p:cNvSpPr/>
          <p:nvPr/>
        </p:nvSpPr>
        <p:spPr>
          <a:xfrm>
            <a:off x="1664208" y="1874520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514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点が建物の中にある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その建物に当てはめる</a:t>
            </a:r>
            <a:endParaRPr lang="en-US" sz="1100" dirty="0"/>
          </a:p>
        </p:txBody>
      </p:sp>
      <p:sp>
        <p:nvSpPr>
          <p:cNvPr id="9" name="card"/>
          <p:cNvSpPr/>
          <p:nvPr/>
        </p:nvSpPr>
        <p:spPr>
          <a:xfrm>
            <a:off x="3291840" y="1417320"/>
            <a:ext cx="256032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10" name="building"/>
          <p:cNvSpPr/>
          <p:nvPr/>
        </p:nvSpPr>
        <p:spPr>
          <a:xfrm>
            <a:off x="4114800" y="1600200"/>
            <a:ext cx="914400" cy="6858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search radius"/>
          <p:cNvSpPr/>
          <p:nvPr/>
        </p:nvSpPr>
        <p:spPr>
          <a:xfrm>
            <a:off x="4873752" y="1673352"/>
            <a:ext cx="822960" cy="822960"/>
          </a:xfrm>
          <a:prstGeom prst="ellipse">
            <a:avLst/>
          </a:prstGeom>
          <a:solidFill>
            <a:schemeClr val="accent4">
              <a:alpha val="25000"/>
            </a:schemeClr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12" name="point"/>
          <p:cNvSpPr/>
          <p:nvPr/>
        </p:nvSpPr>
        <p:spPr>
          <a:xfrm>
            <a:off x="5257800" y="2057400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2514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中にはないが 30m 以内に建物がある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いちばん近い建物に当てはめる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3218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印：近くの建物で代用</a:t>
            </a:r>
            <a:endParaRPr lang="en-US" sz="1100" dirty="0"/>
          </a:p>
        </p:txBody>
      </p:sp>
      <p:sp>
        <p:nvSpPr>
          <p:cNvPr id="16" name="card"/>
          <p:cNvSpPr/>
          <p:nvPr/>
        </p:nvSpPr>
        <p:spPr>
          <a:xfrm>
            <a:off x="6126480" y="1417320"/>
            <a:ext cx="256032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17" name="building"/>
          <p:cNvSpPr/>
          <p:nvPr/>
        </p:nvSpPr>
        <p:spPr>
          <a:xfrm>
            <a:off x="6949440" y="1600200"/>
            <a:ext cx="914400" cy="6858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point"/>
          <p:cNvSpPr/>
          <p:nvPr/>
        </p:nvSpPr>
        <p:spPr>
          <a:xfrm>
            <a:off x="8412480" y="2423160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63640" y="2514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30m 以内に建物がない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当てはめない（別の点レイヤへ）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3218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印：建物なし</a:t>
            </a:r>
            <a:endParaRPr lang="en-US" sz="1100" dirty="0"/>
          </a:p>
        </p:txBody>
      </p:sp>
      <p:sp>
        <p:nvSpPr>
          <p:cNvPr id="22" name="card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391363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結果：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建物の形に「建物の列＋施設の列＋判定」を付けた新しいレイヤ。1つの建物に施設が複数あれば1棟にまとめ、施設の値を「 / 」でつなぎ「施設数」を付けます。要確認は次のページの方法で直せます。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要確認は、地図で見ながら1件ずつ直せる</a:t>
            </a:r>
            <a:endParaRPr lang="en-US" sz="2800" dirty="0"/>
          </a:p>
        </p:txBody>
      </p:sp>
      <p:pic>
        <p:nvPicPr>
          <p:cNvPr id="3" name="Image 0" descr="照合の確認・修正パネルの画面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120640" cy="2999232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E2A33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57200" y="41879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赤い丸＝施設の点　オレンジ＝当てはめる建物</a:t>
            </a:r>
            <a:endParaRPr lang="en-US" sz="1000" dirty="0"/>
          </a:p>
        </p:txBody>
      </p:sp>
      <p:sp>
        <p:nvSpPr>
          <p:cNvPr id="5" name="icon tile"/>
          <p:cNvSpPr/>
          <p:nvPr/>
        </p:nvSpPr>
        <p:spPr>
          <a:xfrm>
            <a:off x="5852160" y="1097280"/>
            <a:ext cx="502920" cy="50292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6" name="Image 1" descr="FaCheckCirc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861" y="1217981"/>
            <a:ext cx="261518" cy="26151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92240" y="1097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この建物に決める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492240" y="1371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点を建物の中へ動かす</a:t>
            </a:r>
            <a:endParaRPr lang="en-US" sz="1100" dirty="0"/>
          </a:p>
        </p:txBody>
      </p:sp>
      <p:sp>
        <p:nvSpPr>
          <p:cNvPr id="9" name="icon tile"/>
          <p:cNvSpPr/>
          <p:nvPr/>
        </p:nvSpPr>
        <p:spPr>
          <a:xfrm>
            <a:off x="5852160" y="1874520"/>
            <a:ext cx="502920" cy="502920"/>
          </a:xfrm>
          <a:prstGeom prst="roundRect">
            <a:avLst>
              <a:gd name="adj" fmla="val 22000"/>
            </a:avLst>
          </a:prstGeom>
          <a:solidFill>
            <a:schemeClr val="accent2"/>
          </a:solidFill>
          <a:ln/>
        </p:spPr>
      </p:sp>
      <p:pic>
        <p:nvPicPr>
          <p:cNvPr id="10" name="Image 2" descr="FaMousePoint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2861" y="1995221"/>
            <a:ext cx="261518" cy="26151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49224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地図で別の建物を選ぶ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6492240" y="2148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正しい建物をクリックして選び直す</a:t>
            </a:r>
            <a:endParaRPr lang="en-US" sz="1100" dirty="0"/>
          </a:p>
        </p:txBody>
      </p:sp>
      <p:sp>
        <p:nvSpPr>
          <p:cNvPr id="13" name="icon tile"/>
          <p:cNvSpPr/>
          <p:nvPr/>
        </p:nvSpPr>
        <p:spPr>
          <a:xfrm>
            <a:off x="5852160" y="2651760"/>
            <a:ext cx="502920" cy="502920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</p:sp>
      <p:pic>
        <p:nvPicPr>
          <p:cNvPr id="14" name="Image 3" descr="FaUnd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2861" y="2772461"/>
            <a:ext cx="261518" cy="26151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492240" y="2651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動かさない／元に戻す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649224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そのままにする・元の位置へ戻す</a:t>
            </a:r>
            <a:endParaRPr lang="en-US" sz="1100" dirty="0"/>
          </a:p>
        </p:txBody>
      </p:sp>
      <p:sp>
        <p:nvSpPr>
          <p:cNvPr id="17" name="card"/>
          <p:cNvSpPr/>
          <p:nvPr/>
        </p:nvSpPr>
        <p:spPr>
          <a:xfrm>
            <a:off x="5852160" y="3429000"/>
            <a:ext cx="28346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5989320" y="3520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最後に「終わって照合し直す」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5989320" y="38404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結果を作り直し、動かした点を保存するか聞きます。次に照合したときも正しく当たります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PLATEAU の建物データでも使える</a:t>
            </a:r>
            <a:endParaRPr lang="en-US" sz="2800" dirty="0"/>
          </a:p>
        </p:txBody>
      </p:sp>
      <p:sp>
        <p:nvSpPr>
          <p:cNvPr id="3" name="icon tile"/>
          <p:cNvSpPr/>
          <p:nvPr/>
        </p:nvSpPr>
        <p:spPr>
          <a:xfrm>
            <a:off x="457200" y="1188720"/>
            <a:ext cx="1005840" cy="1005840"/>
          </a:xfrm>
          <a:prstGeom prst="roundRect">
            <a:avLst>
              <a:gd name="adj" fmla="val 22000"/>
            </a:avLst>
          </a:prstGeom>
          <a:solidFill>
            <a:schemeClr val="tx2"/>
          </a:solidFill>
          <a:ln/>
        </p:spPr>
      </p:sp>
      <p:pic>
        <p:nvPicPr>
          <p:cNvPr id="4" name="Image 0" descr="FaCi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602" y="1430122"/>
            <a:ext cx="523037" cy="52303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91640" y="118872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国土交通省の3D都市モデル PLATEAU を、QGISに読み込んで使えます。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高さの列は measuredHeight が自動で選ばれます。</a:t>
            </a:r>
            <a:endParaRPr lang="en-US" sz="1400" dirty="0"/>
          </a:p>
        </p:txBody>
      </p:sp>
      <p:sp>
        <p:nvSpPr>
          <p:cNvPr id="6" name="number 1"/>
          <p:cNvSpPr/>
          <p:nvPr/>
        </p:nvSpPr>
        <p:spPr>
          <a:xfrm>
            <a:off x="457200" y="2514600"/>
            <a:ext cx="329184" cy="32918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2514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5420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「PLATEAU QGIS Plugin」（国土交通省）を入れる</a:t>
            </a:r>
            <a:endParaRPr lang="en-US" sz="1200" dirty="0"/>
          </a:p>
        </p:txBody>
      </p:sp>
      <p:sp>
        <p:nvSpPr>
          <p:cNvPr id="9" name="number 2"/>
          <p:cNvSpPr/>
          <p:nvPr/>
        </p:nvSpPr>
        <p:spPr>
          <a:xfrm>
            <a:off x="457200" y="3017520"/>
            <a:ext cx="329184" cy="32918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30449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「PLATEAU 3D都市モデルを読み込む」で CityGML を読み込む</a:t>
            </a:r>
            <a:endParaRPr lang="en-US" sz="1200" dirty="0"/>
          </a:p>
        </p:txBody>
      </p:sp>
      <p:sp>
        <p:nvSpPr>
          <p:cNvPr id="12" name="number 3"/>
          <p:cNvSpPr/>
          <p:nvPr/>
        </p:nvSpPr>
        <p:spPr>
          <a:xfrm>
            <a:off x="457200" y="3520440"/>
            <a:ext cx="329184" cy="32918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3520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5478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建物（bldg_Building）のレイヤを「建物レイヤ」か「周辺の建物」に選ぶ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5394960" y="2423160"/>
            <a:ext cx="32918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577840" y="25603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立体（LOD1）のままでもOK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屋根・床・壁の面が集まった立体は、書き出すときに「真上から見た1つの形」にまとめてから立ち上げます。平面（LOD0）でも使えます。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出典に「PLATEAU（国土交通省）」を表示するチェックもあります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今はまだできないこと・注意</a:t>
            </a:r>
            <a:endParaRPr lang="en-US" sz="2800" dirty="0"/>
          </a:p>
        </p:txBody>
      </p:sp>
      <p:sp>
        <p:nvSpPr>
          <p:cNvPr id="3" name="icon tile"/>
          <p:cNvSpPr/>
          <p:nvPr/>
        </p:nvSpPr>
        <p:spPr>
          <a:xfrm>
            <a:off x="457200" y="1097280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</p:sp>
      <p:pic>
        <p:nvPicPr>
          <p:cNvPr id="4" name="Image 0" descr="FaPalet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874" y="1228954"/>
            <a:ext cx="285293" cy="28529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0972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色分けは「単一」と「分類」だけ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139903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QGISの「段階」「ルールベース」は、いまは単色で書き出します</a:t>
            </a:r>
            <a:endParaRPr lang="en-US" sz="1100" dirty="0"/>
          </a:p>
        </p:txBody>
      </p:sp>
      <p:sp>
        <p:nvSpPr>
          <p:cNvPr id="7" name="icon tile"/>
          <p:cNvSpPr/>
          <p:nvPr/>
        </p:nvSpPr>
        <p:spPr>
          <a:xfrm>
            <a:off x="4663440" y="1097280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</p:sp>
      <p:pic>
        <p:nvPicPr>
          <p:cNvPr id="8" name="Image 1" descr="FaWif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114" y="1228954"/>
            <a:ext cx="285293" cy="28529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394960" y="10972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背景地図はネットが必要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394960" y="139903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地理院の地図はネットから読み込みます。建物はネットがなくても表示</a:t>
            </a:r>
            <a:endParaRPr lang="en-US" sz="1100" dirty="0"/>
          </a:p>
        </p:txBody>
      </p:sp>
      <p:sp>
        <p:nvSpPr>
          <p:cNvPr id="11" name="icon tile"/>
          <p:cNvSpPr/>
          <p:nvPr/>
        </p:nvSpPr>
        <p:spPr>
          <a:xfrm>
            <a:off x="457200" y="2194560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</p:sp>
      <p:pic>
        <p:nvPicPr>
          <p:cNvPr id="12" name="Image 2" descr="FaCompas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4" y="232623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21945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地図は回せない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1188720" y="249631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見やすさのため北を上に固定。傾きは 2D／3D ボタンだけで切り替え</a:t>
            </a:r>
            <a:endParaRPr lang="en-US" sz="1100" dirty="0"/>
          </a:p>
        </p:txBody>
      </p:sp>
      <p:sp>
        <p:nvSpPr>
          <p:cNvPr id="15" name="icon tile"/>
          <p:cNvSpPr/>
          <p:nvPr/>
        </p:nvSpPr>
        <p:spPr>
          <a:xfrm>
            <a:off x="4663440" y="2194560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</p:sp>
      <p:pic>
        <p:nvPicPr>
          <p:cNvPr id="16" name="Image 3" descr="FaSav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114" y="2326234"/>
            <a:ext cx="285293" cy="28529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394960" y="21945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設定は保存されない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5394960" y="249631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ダイアログの設定は、書き出すたびに選び直します</a:t>
            </a:r>
            <a:endParaRPr lang="en-US" sz="1100" dirty="0"/>
          </a:p>
        </p:txBody>
      </p:sp>
      <p:sp>
        <p:nvSpPr>
          <p:cNvPr id="19" name="icon tile"/>
          <p:cNvSpPr/>
          <p:nvPr/>
        </p:nvSpPr>
        <p:spPr>
          <a:xfrm>
            <a:off x="457200" y="3291840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</p:sp>
      <p:pic>
        <p:nvPicPr>
          <p:cNvPr id="20" name="Image 4" descr="FaExclamationTriang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874" y="3423514"/>
            <a:ext cx="285293" cy="285293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88720" y="32918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形が読めない建物は除外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1188720" y="359359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空・面でない・座標変換できないもの。除外した件数は完了画面に出ます</a:t>
            </a:r>
            <a:endParaRPr lang="en-US" sz="1100" dirty="0"/>
          </a:p>
        </p:txBody>
      </p:sp>
      <p:sp>
        <p:nvSpPr>
          <p:cNvPr id="23" name="icon tile"/>
          <p:cNvSpPr/>
          <p:nvPr/>
        </p:nvSpPr>
        <p:spPr>
          <a:xfrm>
            <a:off x="4663440" y="3291840"/>
            <a:ext cx="548640" cy="548640"/>
          </a:xfrm>
          <a:prstGeom prst="roundRect">
            <a:avLst>
              <a:gd name="adj" fmla="val 22000"/>
            </a:avLst>
          </a:prstGeom>
          <a:solidFill>
            <a:schemeClr val="accent5"/>
          </a:solidFill>
          <a:ln/>
        </p:spPr>
      </p:sp>
      <p:pic>
        <p:nvPicPr>
          <p:cNvPr id="24" name="Image 5" descr="FaClo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5114" y="3423514"/>
            <a:ext cx="285293" cy="285293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394960" y="32918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あとで足す予定</a:t>
            </a:r>
            <a:endParaRPr lang="en-US" sz="1400" dirty="0"/>
          </a:p>
        </p:txBody>
      </p:sp>
      <p:sp>
        <p:nvSpPr>
          <p:cNvPr id="26" name="Text 18"/>
          <p:cNvSpPr txBox="1"/>
          <p:nvPr/>
        </p:nvSpPr>
        <p:spPr>
          <a:xfrm>
            <a:off x="5394960" y="359359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件数が多いときの警告、ダークモード、海外の地図など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まとめ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QGISの建物データを、渡せる3D地図に</a:t>
            </a:r>
            <a:endParaRPr lang="en-US" sz="1800" dirty="0"/>
          </a:p>
        </p:txBody>
      </p:sp>
      <p:sp>
        <p:nvSpPr>
          <p:cNvPr id="4" name="icon tile"/>
          <p:cNvSpPr/>
          <p:nvPr/>
        </p:nvSpPr>
        <p:spPr>
          <a:xfrm>
            <a:off x="5486400" y="1234440"/>
            <a:ext cx="594360" cy="59436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5" name="Image 0" descr="FaFile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9046" y="1377086"/>
            <a:ext cx="309067" cy="30906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63640" y="12344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HTMLファイル1つで完結。相手はブラウザで開くだけ</a:t>
            </a:r>
            <a:endParaRPr lang="en-US" sz="1300" dirty="0"/>
          </a:p>
        </p:txBody>
      </p:sp>
      <p:sp>
        <p:nvSpPr>
          <p:cNvPr id="7" name="icon tile"/>
          <p:cNvSpPr/>
          <p:nvPr/>
        </p:nvSpPr>
        <p:spPr>
          <a:xfrm>
            <a:off x="5486400" y="2194560"/>
            <a:ext cx="594360" cy="59436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8" name="Image 1" descr="FaPalet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9046" y="2337206"/>
            <a:ext cx="309067" cy="30906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263640" y="21945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QGISの色分け・選んだ列をそのまま3D地図に</a:t>
            </a:r>
            <a:endParaRPr lang="en-US" sz="1300" dirty="0"/>
          </a:p>
        </p:txBody>
      </p:sp>
      <p:sp>
        <p:nvSpPr>
          <p:cNvPr id="10" name="icon tile"/>
          <p:cNvSpPr/>
          <p:nvPr/>
        </p:nvSpPr>
        <p:spPr>
          <a:xfrm>
            <a:off x="5486400" y="3154680"/>
            <a:ext cx="594360" cy="594360"/>
          </a:xfrm>
          <a:prstGeom prst="roundRect">
            <a:avLst>
              <a:gd name="adj" fmla="val 22000"/>
            </a:avLst>
          </a:prstGeom>
          <a:solidFill>
            <a:schemeClr val="accent2"/>
          </a:solidFill>
          <a:ln/>
        </p:spPr>
      </p:sp>
      <p:pic>
        <p:nvPicPr>
          <p:cNvPr id="11" name="Image 2" descr="FaDraftingCompas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9046" y="3297326"/>
            <a:ext cx="309067" cy="30906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263640" y="31546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計画建物・周辺の建物で、今と計画後を見比べ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ilding 3D">
  <a:themeElements>
    <a:clrScheme name="Building 3D">
      <a:dk1>
        <a:srgbClr val="1E2A33"/>
      </a:dk1>
      <a:lt1>
        <a:srgbClr val="FFFFFF"/>
      </a:lt1>
      <a:dk2>
        <a:srgbClr val="1F3A4D"/>
      </a:dk2>
      <a:lt2>
        <a:srgbClr val="EEF2F5"/>
      </a:lt2>
      <a:accent1>
        <a:srgbClr val="2C5D8A"/>
      </a:accent1>
      <a:accent2>
        <a:srgbClr val="E4572E"/>
      </a:accent2>
      <a:accent3>
        <a:srgbClr val="7F9FC4"/>
      </a:accent3>
      <a:accent4>
        <a:srgbClr val="E2BB55"/>
      </a:accent4>
      <a:accent5>
        <a:srgbClr val="6B7785"/>
      </a:accent5>
      <a:accent6>
        <a:srgbClr val="3A8F7B"/>
      </a:accent6>
      <a:hlink>
        <a:srgbClr val="2C5D8A"/>
      </a:hlink>
      <a:folHlink>
        <a:srgbClr val="6B7785"/>
      </a:folHlink>
    </a:clrScheme>
    <a:fontScheme name="Building 3D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3D HTML でできること</dc:title>
  <dc:subject>PptxGenJS Presentation</dc:subject>
  <dc:creator>りんとゆう</dc:creator>
  <cp:lastModifiedBy>りんとゆう</cp:lastModifiedBy>
  <cp:revision>1</cp:revision>
  <dcterms:created xsi:type="dcterms:W3CDTF">2026-10-13T11:23:23Z</dcterms:created>
  <dcterms:modified xsi:type="dcterms:W3CDTF">2026-10-13T11:23:23Z</dcterms:modified>
</cp:coreProperties>
</file>